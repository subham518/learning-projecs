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5" r:id="rId3"/>
    <p:sldId id="268" r:id="rId4"/>
    <p:sldId id="269" r:id="rId5"/>
    <p:sldId id="258" r:id="rId6"/>
    <p:sldId id="259" r:id="rId7"/>
    <p:sldId id="260" r:id="rId8"/>
    <p:sldId id="261" r:id="rId9"/>
    <p:sldId id="262" r:id="rId10"/>
    <p:sldId id="264" r:id="rId11"/>
    <p:sldId id="263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66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543800" cy="1104388"/>
          </a:xfrm>
        </p:spPr>
        <p:txBody>
          <a:bodyPr>
            <a:noAutofit/>
          </a:bodyPr>
          <a:lstStyle/>
          <a:p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r>
              <a:rPr lang="en-US" sz="3200" dirty="0"/>
              <a:t>     </a:t>
            </a:r>
            <a:r>
              <a:rPr lang="en-US" sz="2800" b="1" dirty="0"/>
              <a:t>A Minor Project </a:t>
            </a:r>
            <a:br>
              <a:rPr lang="en-US" sz="2800" b="1" dirty="0"/>
            </a:br>
            <a:r>
              <a:rPr lang="en-US" sz="2800" b="1" dirty="0"/>
              <a:t>on</a:t>
            </a:r>
            <a:br>
              <a:rPr lang="en-US" sz="2800" b="1" dirty="0"/>
            </a:br>
            <a:r>
              <a:rPr lang="en-IN" sz="2800" b="1" dirty="0"/>
              <a:t>Interactive Web-Based Mathematical Toolkit</a:t>
            </a:r>
            <a:br>
              <a:rPr lang="en-US" sz="3200" dirty="0"/>
            </a:br>
            <a:r>
              <a:rPr lang="en-US" sz="2400" dirty="0"/>
              <a:t>By </a:t>
            </a:r>
            <a:br>
              <a:rPr lang="en-US" sz="3200" dirty="0"/>
            </a:br>
            <a:r>
              <a:rPr lang="en-US" sz="2200" dirty="0">
                <a:latin typeface="+mn-lt"/>
              </a:rPr>
              <a:t>Subham Kumar </a:t>
            </a:r>
            <a:r>
              <a:rPr lang="en-US" sz="2200" dirty="0" err="1">
                <a:latin typeface="+mn-lt"/>
              </a:rPr>
              <a:t>Padhy</a:t>
            </a:r>
            <a:r>
              <a:rPr lang="en-US" sz="2200" dirty="0">
                <a:latin typeface="+mn-lt"/>
              </a:rPr>
              <a:t> (24CSE236) and</a:t>
            </a:r>
            <a:br>
              <a:rPr lang="en-US" sz="2200" dirty="0">
                <a:latin typeface="+mn-lt"/>
              </a:rPr>
            </a:br>
            <a:r>
              <a:rPr lang="en-US" sz="2200" dirty="0">
                <a:latin typeface="+mn-lt"/>
              </a:rPr>
              <a:t>Tanmay Bhuyan (24CSE215)</a:t>
            </a:r>
            <a:br>
              <a:rPr lang="en-US" sz="2400" dirty="0"/>
            </a:br>
            <a:r>
              <a:rPr lang="en-US" sz="2400" dirty="0"/>
              <a:t>	</a:t>
            </a:r>
            <a:br>
              <a:rPr lang="en-US" sz="24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r>
              <a:rPr lang="en-US" sz="2400" b="1" dirty="0"/>
              <a:t>Department of CSE,</a:t>
            </a:r>
            <a:br>
              <a:rPr lang="en-US" sz="2400" b="1" dirty="0"/>
            </a:br>
            <a:r>
              <a:rPr lang="en-US" sz="2400" b="1" dirty="0"/>
              <a:t>GIET University, </a:t>
            </a:r>
            <a:r>
              <a:rPr lang="en-US" sz="2400" b="1" dirty="0" err="1"/>
              <a:t>Gunupur</a:t>
            </a:r>
            <a:r>
              <a:rPr lang="en-US" sz="2400" b="1" dirty="0"/>
              <a:t>, Odisha</a:t>
            </a:r>
            <a:br>
              <a:rPr lang="en-US" sz="2400" b="1" dirty="0"/>
            </a:br>
            <a:r>
              <a:rPr lang="en-US" sz="2400" b="1" dirty="0"/>
              <a:t>August - 2025</a:t>
            </a:r>
            <a:endParaRPr sz="24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1168" y="3320845"/>
            <a:ext cx="1641664" cy="147200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356098" y="132837"/>
            <a:ext cx="9146135" cy="1470025"/>
          </a:xfrm>
        </p:spPr>
        <p:txBody>
          <a:bodyPr>
            <a:noAutofit/>
          </a:bodyPr>
          <a:lstStyle/>
          <a:p>
            <a:r>
              <a:rPr lang="en-US" b="1" dirty="0"/>
              <a:t>Contents </a:t>
            </a:r>
            <a:endParaRPr b="1" dirty="0"/>
          </a:p>
        </p:txBody>
      </p:sp>
      <p:sp>
        <p:nvSpPr>
          <p:cNvPr id="3" name="TextBox 2"/>
          <p:cNvSpPr txBox="1"/>
          <p:nvPr/>
        </p:nvSpPr>
        <p:spPr>
          <a:xfrm>
            <a:off x="231952" y="1607676"/>
            <a:ext cx="868009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/>
              <a:t>Abstract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Introduction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Problem Statement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Objectives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Current progress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Project workflow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Tools &amp; Technologies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Future work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Expected Outcomes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BB4A70-A795-D32A-E7DE-1EE86E3BA9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988" y="251007"/>
            <a:ext cx="1150049" cy="1031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2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610EB-A5FC-2147-C244-A77EB714F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Abstract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09360-8297-0CAD-C8F0-C1671A8ED8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7968"/>
            <a:ext cx="8229600" cy="53153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Aim:</a:t>
            </a:r>
          </a:p>
          <a:p>
            <a:pPr marL="0" indent="0">
              <a:buNone/>
            </a:pPr>
            <a:r>
              <a:rPr lang="en-US" sz="2000" dirty="0"/>
              <a:t>To build an interactive, web-based mathematical toolkit. Simplifies how users, especially students, interact with fundamental math concepts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b="1" dirty="0"/>
              <a:t>Current Progress:</a:t>
            </a:r>
          </a:p>
          <a:p>
            <a:pPr marL="0" indent="0">
              <a:buNone/>
            </a:pPr>
            <a:r>
              <a:rPr lang="en-US" sz="2000" dirty="0"/>
              <a:t>First version completed with a fully functional factorial calculator. Designed using HTML, Tailwind CSS, and JavaScript.</a:t>
            </a:r>
          </a:p>
          <a:p>
            <a:pPr marL="0" indent="0">
              <a:buNone/>
            </a:pPr>
            <a:r>
              <a:rPr lang="en-US" sz="2000" dirty="0"/>
              <a:t>Includes educational content to explain the math behind calculations.</a:t>
            </a:r>
          </a:p>
          <a:p>
            <a:pPr marL="0" indent="0">
              <a:buNone/>
            </a:pPr>
            <a:r>
              <a:rPr lang="en-US" sz="2400" b="1" dirty="0"/>
              <a:t>Technologies Used:</a:t>
            </a:r>
          </a:p>
          <a:p>
            <a:pPr marL="0" indent="0">
              <a:buNone/>
            </a:pPr>
            <a:r>
              <a:rPr lang="en-IN" sz="2000" dirty="0"/>
              <a:t>Frontend: HTML, Tailwind CSS, JavaScript.</a:t>
            </a:r>
          </a:p>
          <a:p>
            <a:pPr marL="0" indent="0">
              <a:buNone/>
            </a:pPr>
            <a:r>
              <a:rPr lang="en-US" sz="2000" dirty="0"/>
              <a:t>Planned backend: Node.js, Express.js, MongoDB (future).</a:t>
            </a:r>
          </a:p>
          <a:p>
            <a:pPr marL="0" indent="0">
              <a:buNone/>
            </a:pPr>
            <a:r>
              <a:rPr lang="en-IN" sz="2400" b="1" dirty="0"/>
              <a:t>Future Work :</a:t>
            </a:r>
          </a:p>
          <a:p>
            <a:pPr marL="0" indent="0">
              <a:buNone/>
            </a:pPr>
            <a:r>
              <a:rPr lang="en-US" sz="2000" dirty="0"/>
              <a:t>To add other tools (prime number check, exponentiation etc.,).</a:t>
            </a:r>
          </a:p>
          <a:p>
            <a:pPr marL="0" indent="0">
              <a:buNone/>
            </a:pPr>
            <a:r>
              <a:rPr lang="en-US" sz="2000" dirty="0"/>
              <a:t>Backend integration for user accounts.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IN" sz="24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99197B4-9BA8-FDC2-1BC4-11B1B5B4D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8310" y="236769"/>
            <a:ext cx="1150049" cy="1031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184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0F2D5-826D-E072-D7C8-CB5DBD1D0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838" y="687593"/>
            <a:ext cx="8229600" cy="1143000"/>
          </a:xfrm>
        </p:spPr>
        <p:txBody>
          <a:bodyPr/>
          <a:lstStyle/>
          <a:p>
            <a:r>
              <a:rPr lang="en-US" b="1" dirty="0"/>
              <a:t>Introduction</a:t>
            </a:r>
            <a:endParaRPr lang="en-IN" b="1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26C4AF7-9E47-E345-17CE-4B267F554D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2561" y="2452803"/>
            <a:ext cx="7978877" cy="25405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Many learners struggle with understanding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fundamental mathematical concepts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Conventional calculators only provide results →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learning or explanation.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dirty="0"/>
              <a:t> Combines </a:t>
            </a:r>
            <a:r>
              <a:rPr lang="en-US" sz="1800" b="1" dirty="0"/>
              <a:t>calculation + step-by-step explanation</a:t>
            </a:r>
            <a:r>
              <a:rPr lang="en-US" sz="1800" dirty="0"/>
              <a:t> for better learning.</a:t>
            </a:r>
          </a:p>
          <a:p>
            <a:pPr marL="0" lvl="0" indent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dirty="0"/>
              <a:t> Serve as both a </a:t>
            </a:r>
            <a:r>
              <a:rPr lang="en-US" sz="1800" b="1" dirty="0"/>
              <a:t>functional calculator</a:t>
            </a:r>
            <a:r>
              <a:rPr lang="en-US" sz="1800" dirty="0"/>
              <a:t> and an </a:t>
            </a:r>
            <a:r>
              <a:rPr lang="en-US" sz="1800" b="1" dirty="0"/>
              <a:t>educational aid</a:t>
            </a:r>
            <a:r>
              <a:rPr lang="en-US" sz="1800" dirty="0"/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2E5D2B-F462-37E1-582B-275E67262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6633" y="171993"/>
            <a:ext cx="1150049" cy="1031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927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7645" y="2160638"/>
            <a:ext cx="7988710" cy="364039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en-US" sz="2400" dirty="0">
                <a:latin typeface="Arial" panose="020B0604020202020204" pitchFamily="34" charset="0"/>
              </a:rPr>
              <a:t>Existing online tools are either only answer based or traditional content delivering style.</a:t>
            </a:r>
          </a:p>
          <a:p>
            <a:pPr>
              <a:lnSpc>
                <a:spcPct val="150000"/>
              </a:lnSpc>
            </a:pPr>
            <a:r>
              <a:rPr lang="en-IN" sz="2400" b="1" dirty="0"/>
              <a:t>Need for the Project:  </a:t>
            </a:r>
            <a:r>
              <a:rPr lang="en-US" sz="2400" dirty="0"/>
              <a:t>A platform that makes math learning interactive, simple, and accessible. Should provide step-by-step explanations along with answers.</a:t>
            </a:r>
            <a:endParaRPr lang="en-IN" sz="2400" dirty="0"/>
          </a:p>
          <a:p>
            <a:pPr marL="0" indent="0">
              <a:buNone/>
            </a:pPr>
            <a:r>
              <a:rPr lang="en-IN" dirty="0"/>
              <a:t>     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E5B7D2C-5895-B0AB-6CEF-C57DDAFD0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5962" y="242340"/>
            <a:ext cx="1150049" cy="10311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Core objectives: </a:t>
            </a:r>
          </a:p>
          <a:p>
            <a:pPr marL="0" indent="0">
              <a:buNone/>
            </a:pPr>
            <a:r>
              <a:rPr lang="en-US" sz="2200" dirty="0"/>
              <a:t>Develop a responsive web interface for mathematical operations. Provide step-by-step explanations with every calculation.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b="1" dirty="0"/>
              <a:t>Development Goals:</a:t>
            </a:r>
          </a:p>
          <a:p>
            <a:pPr marL="0" indent="0">
              <a:buNone/>
            </a:pPr>
            <a:r>
              <a:rPr lang="en-US" sz="2200" dirty="0"/>
              <a:t>Build modular tools: Factorial Calculator, Prime Checker, Arithmetic Operations. Future integration of GCD, LCM, exponentiation.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b="1" dirty="0"/>
              <a:t>Vision:</a:t>
            </a:r>
          </a:p>
          <a:p>
            <a:pPr marL="0" indent="0">
              <a:buNone/>
            </a:pPr>
            <a:r>
              <a:rPr lang="en-US" sz="2200" dirty="0"/>
              <a:t>Bridge the gap between calculation tools and learning aids.</a:t>
            </a:r>
            <a:endParaRPr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7D0E7C-575F-BEBD-919C-8E457F1673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6969" y="216237"/>
            <a:ext cx="1150049" cy="10311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608934"/>
            <a:ext cx="8229600" cy="1143000"/>
          </a:xfrm>
        </p:spPr>
        <p:txBody>
          <a:bodyPr/>
          <a:lstStyle/>
          <a:p>
            <a:r>
              <a:rPr lang="en-IN" b="1" dirty="0"/>
              <a:t>Current Progress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019" y="2198738"/>
            <a:ext cx="8229600" cy="2735826"/>
          </a:xfrm>
        </p:spPr>
        <p:txBody>
          <a:bodyPr>
            <a:normAutofit fontScale="92500"/>
          </a:bodyPr>
          <a:lstStyle/>
          <a:p>
            <a:r>
              <a:rPr lang="en-IN" sz="2400" dirty="0"/>
              <a:t>Frontend setup using HTML, Tailwind CSS, JavaScript.</a:t>
            </a:r>
          </a:p>
          <a:p>
            <a:r>
              <a:rPr lang="en-IN" sz="2400" dirty="0"/>
              <a:t>Factorial Calculator → fully functional with step-by-step output.</a:t>
            </a:r>
          </a:p>
          <a:p>
            <a:r>
              <a:rPr lang="en-IN" sz="2400" dirty="0"/>
              <a:t>Prime Checker → User interface designed &amp; integrated.</a:t>
            </a:r>
          </a:p>
          <a:p>
            <a:r>
              <a:rPr lang="en-IN" sz="2400" dirty="0"/>
              <a:t> Responsive design across devices.</a:t>
            </a:r>
          </a:p>
          <a:p>
            <a:r>
              <a:rPr lang="en-IN" sz="2400" dirty="0"/>
              <a:t> Basic educational content added.</a:t>
            </a:r>
          </a:p>
          <a:p>
            <a:pPr marL="0" indent="0">
              <a:buNone/>
            </a:pPr>
            <a:r>
              <a:rPr lang="en-US" sz="2400" dirty="0"/>
              <a:t>Approximately 35% of the project completed .</a:t>
            </a:r>
            <a:endParaRPr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7CB4B0-C3CD-2DCB-6C74-3A4873849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1551" y="162130"/>
            <a:ext cx="1150049" cy="10311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r>
              <a:rPr lang="en-US" b="1" dirty="0"/>
              <a:t>Project Workflow</a:t>
            </a:r>
            <a:endParaRPr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3BAFF4-0E09-F345-8E70-266A28A7A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7304" y="216237"/>
            <a:ext cx="1150049" cy="1031199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A843F6C-43A0-A178-FF70-55273AAEAF93}"/>
              </a:ext>
            </a:extLst>
          </p:cNvPr>
          <p:cNvSpPr/>
          <p:nvPr/>
        </p:nvSpPr>
        <p:spPr>
          <a:xfrm>
            <a:off x="3609861" y="1317853"/>
            <a:ext cx="1187116" cy="540444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84B419-2B74-949D-B69E-5AFF3843C3DB}"/>
              </a:ext>
            </a:extLst>
          </p:cNvPr>
          <p:cNvSpPr txBox="1"/>
          <p:nvPr/>
        </p:nvSpPr>
        <p:spPr>
          <a:xfrm>
            <a:off x="3576148" y="1383930"/>
            <a:ext cx="13362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Comic Sans MS" panose="030F0702030302020204" pitchFamily="66" charset="0"/>
              </a:rPr>
              <a:t>User Login</a:t>
            </a:r>
          </a:p>
          <a:p>
            <a:r>
              <a:rPr lang="en-US" sz="1000" dirty="0">
                <a:latin typeface="Comic Sans MS" panose="030F0702030302020204" pitchFamily="66" charset="0"/>
              </a:rPr>
              <a:t>(Auth &amp; Database)</a:t>
            </a:r>
            <a:endParaRPr lang="en-IN" sz="1000" dirty="0">
              <a:latin typeface="Comic Sans MS" panose="030F0702030302020204" pitchFamily="66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55237FF-F930-D38B-90BE-3D568F89C650}"/>
              </a:ext>
            </a:extLst>
          </p:cNvPr>
          <p:cNvSpPr/>
          <p:nvPr/>
        </p:nvSpPr>
        <p:spPr>
          <a:xfrm>
            <a:off x="2324735" y="2120088"/>
            <a:ext cx="1635894" cy="576366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701330-3D7D-C4D9-19B4-3835C3414A79}"/>
              </a:ext>
            </a:extLst>
          </p:cNvPr>
          <p:cNvSpPr txBox="1"/>
          <p:nvPr/>
        </p:nvSpPr>
        <p:spPr>
          <a:xfrm>
            <a:off x="2323953" y="2116993"/>
            <a:ext cx="1560496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Input Stage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Comic Sans MS" panose="030F0702030302020204" pitchFamily="66" charset="0"/>
              </a:rPr>
              <a:t>Numbers &amp; operators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Comic Sans MS" panose="030F0702030302020204" pitchFamily="66" charset="0"/>
              </a:rPr>
              <a:t>Advanced options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BB692C0-35C4-609D-82F9-94A19191DAD0}"/>
              </a:ext>
            </a:extLst>
          </p:cNvPr>
          <p:cNvSpPr/>
          <p:nvPr/>
        </p:nvSpPr>
        <p:spPr>
          <a:xfrm>
            <a:off x="4141470" y="2897858"/>
            <a:ext cx="2159276" cy="798726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6AB0701-12CA-0E46-CBE5-0F1FB31675AA}"/>
              </a:ext>
            </a:extLst>
          </p:cNvPr>
          <p:cNvSpPr/>
          <p:nvPr/>
        </p:nvSpPr>
        <p:spPr>
          <a:xfrm>
            <a:off x="2311257" y="4093395"/>
            <a:ext cx="1827178" cy="734322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9445BAC-E20A-AF04-6243-9B5FF599B109}"/>
              </a:ext>
            </a:extLst>
          </p:cNvPr>
          <p:cNvSpPr/>
          <p:nvPr/>
        </p:nvSpPr>
        <p:spPr>
          <a:xfrm>
            <a:off x="4152425" y="5302815"/>
            <a:ext cx="1939639" cy="662867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805D4C-CCE1-517E-4340-CB3A0B6C98DD}"/>
              </a:ext>
            </a:extLst>
          </p:cNvPr>
          <p:cNvSpPr txBox="1"/>
          <p:nvPr/>
        </p:nvSpPr>
        <p:spPr>
          <a:xfrm>
            <a:off x="2295236" y="4150609"/>
            <a:ext cx="189627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Output &amp; Visualization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Comic Sans MS" panose="030F0702030302020204" pitchFamily="66" charset="0"/>
              </a:rPr>
              <a:t>Display result instantly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Comic Sans MS" panose="030F0702030302020204" pitchFamily="66" charset="0"/>
              </a:rPr>
              <a:t>Step-by-step explanation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Comic Sans MS" panose="030F0702030302020204" pitchFamily="66" charset="0"/>
              </a:rPr>
              <a:t> UI feedback (valid/invalid)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097CCBC-1AF2-5034-2003-58CDD815BC8C}"/>
              </a:ext>
            </a:extLst>
          </p:cNvPr>
          <p:cNvSpPr txBox="1"/>
          <p:nvPr/>
        </p:nvSpPr>
        <p:spPr>
          <a:xfrm>
            <a:off x="4174212" y="2958667"/>
            <a:ext cx="215927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Processing &amp; Computation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Comic Sans MS" panose="030F0702030302020204" pitchFamily="66" charset="0"/>
              </a:rPr>
              <a:t>Basic arithmetic (+ − × ÷)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Comic Sans MS" panose="030F0702030302020204" pitchFamily="66" charset="0"/>
              </a:rPr>
              <a:t>Advanced ops (prime, factorial)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Comic Sans MS" panose="030F0702030302020204" pitchFamily="66" charset="0"/>
              </a:rPr>
              <a:t>Error handling (invalid input)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5B8D7FD-4AAA-7E00-9362-BF0C95CE6808}"/>
              </a:ext>
            </a:extLst>
          </p:cNvPr>
          <p:cNvSpPr txBox="1"/>
          <p:nvPr/>
        </p:nvSpPr>
        <p:spPr>
          <a:xfrm>
            <a:off x="4195787" y="5350581"/>
            <a:ext cx="1896278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Database Integration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Comic Sans MS" panose="030F0702030302020204" pitchFamily="66" charset="0"/>
              </a:rPr>
              <a:t>User accounts &amp; auth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Comic Sans MS" panose="030F0702030302020204" pitchFamily="66" charset="0"/>
              </a:rPr>
              <a:t>Store preferences/settings </a:t>
            </a:r>
          </a:p>
        </p:txBody>
      </p: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25C3FE38-B296-D598-DE66-D09BAD7F46A7}"/>
              </a:ext>
            </a:extLst>
          </p:cNvPr>
          <p:cNvCxnSpPr>
            <a:stCxn id="8" idx="2"/>
            <a:endCxn id="9" idx="1"/>
          </p:cNvCxnSpPr>
          <p:nvPr/>
        </p:nvCxnSpPr>
        <p:spPr>
          <a:xfrm rot="16200000" flipH="1">
            <a:off x="3302026" y="2457776"/>
            <a:ext cx="641619" cy="1037269"/>
          </a:xfrm>
          <a:prstGeom prst="bentConnector2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DE2106F7-7AE1-2171-E4D4-6B953FEF2F67}"/>
              </a:ext>
            </a:extLst>
          </p:cNvPr>
          <p:cNvCxnSpPr>
            <a:stCxn id="32" idx="3"/>
            <a:endCxn id="12" idx="3"/>
          </p:cNvCxnSpPr>
          <p:nvPr/>
        </p:nvCxnSpPr>
        <p:spPr>
          <a:xfrm flipH="1">
            <a:off x="4191514" y="3297221"/>
            <a:ext cx="2141975" cy="1191942"/>
          </a:xfrm>
          <a:prstGeom prst="bentConnector3">
            <a:avLst>
              <a:gd name="adj1" fmla="val -1021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9E803513-7C1E-7CE0-635D-8DCD3FD51DFC}"/>
              </a:ext>
            </a:extLst>
          </p:cNvPr>
          <p:cNvCxnSpPr>
            <a:stCxn id="12" idx="2"/>
            <a:endCxn id="33" idx="1"/>
          </p:cNvCxnSpPr>
          <p:nvPr/>
        </p:nvCxnSpPr>
        <p:spPr>
          <a:xfrm rot="16200000" flipH="1">
            <a:off x="3323497" y="4747595"/>
            <a:ext cx="792169" cy="95241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FE2BD0A8-E73D-0F11-D4FE-CA08677990C0}"/>
              </a:ext>
            </a:extLst>
          </p:cNvPr>
          <p:cNvCxnSpPr>
            <a:cxnSpLocks/>
            <a:endCxn id="8" idx="0"/>
          </p:cNvCxnSpPr>
          <p:nvPr/>
        </p:nvCxnSpPr>
        <p:spPr>
          <a:xfrm rot="5400000">
            <a:off x="3519546" y="1442953"/>
            <a:ext cx="258696" cy="108938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8478" y="1708355"/>
            <a:ext cx="6749845" cy="4004187"/>
          </a:xfrm>
        </p:spPr>
        <p:txBody>
          <a:bodyPr>
            <a:normAutofit/>
          </a:bodyPr>
          <a:lstStyle/>
          <a:p>
            <a:r>
              <a:rPr lang="en-IN" sz="2800" dirty="0"/>
              <a:t>Frontend: HTML5, </a:t>
            </a:r>
            <a:r>
              <a:rPr lang="en-IN" sz="2800" dirty="0" err="1"/>
              <a:t>TailwindCSS</a:t>
            </a:r>
            <a:r>
              <a:rPr lang="en-IN" sz="2800" dirty="0"/>
              <a:t>, JavaScript.</a:t>
            </a:r>
          </a:p>
          <a:p>
            <a:r>
              <a:rPr lang="en-IN" sz="2800" dirty="0"/>
              <a:t>Logic Modules: Factorial, Prime, Arithmetic (future).</a:t>
            </a:r>
          </a:p>
          <a:p>
            <a:r>
              <a:rPr lang="en-IN" sz="2800" dirty="0"/>
              <a:t>Backend (future): Node.js, Express.js, MongoDB.</a:t>
            </a:r>
          </a:p>
          <a:p>
            <a:r>
              <a:rPr lang="en-IN" sz="2800" dirty="0"/>
              <a:t>Educational layer: Explanations + Examples.</a:t>
            </a:r>
            <a:endParaRPr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B57578-C9C6-CDA2-C067-BA613A191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6800" y="251007"/>
            <a:ext cx="1150049" cy="10311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555" y="510613"/>
            <a:ext cx="8229600" cy="1143000"/>
          </a:xfrm>
        </p:spPr>
        <p:txBody>
          <a:bodyPr/>
          <a:lstStyle/>
          <a:p>
            <a:r>
              <a:rPr lang="en-IN" b="1" dirty="0"/>
              <a:t>Future Work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026" y="2070920"/>
            <a:ext cx="8229600" cy="271616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IN" sz="2800" dirty="0"/>
              <a:t>Complete prime checker functionality.</a:t>
            </a:r>
          </a:p>
          <a:p>
            <a:pPr>
              <a:lnSpc>
                <a:spcPct val="150000"/>
              </a:lnSpc>
            </a:pPr>
            <a:r>
              <a:rPr lang="en-IN" sz="2800" dirty="0"/>
              <a:t>Arithmetic calculator (add, subtract, multiply, divide).</a:t>
            </a:r>
          </a:p>
          <a:p>
            <a:pPr>
              <a:lnSpc>
                <a:spcPct val="150000"/>
              </a:lnSpc>
            </a:pPr>
            <a:r>
              <a:rPr lang="en-IN" sz="2800" dirty="0"/>
              <a:t>GCD/LCM and exponentiation.</a:t>
            </a:r>
          </a:p>
          <a:p>
            <a:pPr>
              <a:lnSpc>
                <a:spcPct val="150000"/>
              </a:lnSpc>
            </a:pPr>
            <a:r>
              <a:rPr lang="en-IN" sz="2800" dirty="0"/>
              <a:t>Backend integration (user accounts).</a:t>
            </a:r>
            <a:endParaRPr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581864-101E-7A57-61D4-251BCB507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5130" y="251007"/>
            <a:ext cx="1150049" cy="10311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Expected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800" dirty="0"/>
              <a:t>Interactive math learning tool.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Students get both answers + explanations.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Scalable for future expansion.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Accessible on desktop &amp; mobile.</a:t>
            </a:r>
            <a:endParaRPr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135F53-2BE1-9263-C00B-3D930330D0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7640" y="216237"/>
            <a:ext cx="1150049" cy="10311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1561" y="2576051"/>
            <a:ext cx="8229600" cy="120020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7200" b="1" dirty="0">
                <a:latin typeface="+mj-lt"/>
                <a:ea typeface="+mj-ea"/>
                <a:cs typeface="+mj-cs"/>
              </a:rPr>
              <a:t>THANK YOU</a:t>
            </a:r>
            <a:endParaRPr sz="7200" b="1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4071734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533</Words>
  <Application>Microsoft Office PowerPoint</Application>
  <PresentationFormat>On-screen Show (4:3)</PresentationFormat>
  <Paragraphs>82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Comic Sans MS</vt:lpstr>
      <vt:lpstr>Office Theme</vt:lpstr>
      <vt:lpstr>        A Minor Project  on Interactive Web-Based Mathematical Toolkit By  Subham Kumar Padhy (24CSE236) and Tanmay Bhuyan (24CSE215)      Department of CSE, GIET University, Gunupur, Odisha August - 2025</vt:lpstr>
      <vt:lpstr>Contents </vt:lpstr>
      <vt:lpstr>Abstract</vt:lpstr>
      <vt:lpstr>Introduction</vt:lpstr>
      <vt:lpstr>Problem Statement</vt:lpstr>
      <vt:lpstr>Objectives</vt:lpstr>
      <vt:lpstr>Current Progress</vt:lpstr>
      <vt:lpstr>Project Workflow</vt:lpstr>
      <vt:lpstr>Tools &amp; Technologies</vt:lpstr>
      <vt:lpstr>Future Work</vt:lpstr>
      <vt:lpstr>Expected Outcomes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A Minor Project  on Disease Prediction System By  Mr. Sibo Prasad Patro (24CSExyz) under the supervision of  Prof. / Mr. Name of the faculty     Department of CSE, GIET University, Odisha, Gunupur Aug - 2025</dc:title>
  <dc:subject/>
  <dc:creator/>
  <cp:keywords/>
  <dc:description>generated using python-pptx</dc:description>
  <cp:lastModifiedBy>Tanmay Bhuyan</cp:lastModifiedBy>
  <cp:revision>5</cp:revision>
  <dcterms:created xsi:type="dcterms:W3CDTF">2013-01-27T09:14:16Z</dcterms:created>
  <dcterms:modified xsi:type="dcterms:W3CDTF">2025-08-19T05:18:38Z</dcterms:modified>
  <cp:category/>
</cp:coreProperties>
</file>