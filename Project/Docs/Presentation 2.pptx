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65" r:id="rId3"/>
    <p:sldId id="268" r:id="rId4"/>
    <p:sldId id="269" r:id="rId5"/>
    <p:sldId id="258" r:id="rId6"/>
    <p:sldId id="259" r:id="rId7"/>
    <p:sldId id="260" r:id="rId8"/>
    <p:sldId id="261" r:id="rId9"/>
    <p:sldId id="262" r:id="rId10"/>
    <p:sldId id="264" r:id="rId11"/>
    <p:sldId id="263" r:id="rId12"/>
    <p:sldId id="267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6"/>
            <a:ext cx="7543800" cy="1104388"/>
          </a:xfrm>
        </p:spPr>
        <p:txBody>
          <a:bodyPr>
            <a:noAutofit/>
          </a:bodyPr>
          <a:lstStyle/>
          <a:p>
            <a:br>
              <a:rPr lang="en-US" sz="3200" dirty="0"/>
            </a:br>
            <a:br>
              <a:rPr lang="en-US" sz="3200" dirty="0"/>
            </a:br>
            <a:br>
              <a:rPr lang="en-US" sz="3200" dirty="0"/>
            </a:br>
            <a:r>
              <a:rPr lang="en-US" sz="3200" dirty="0"/>
              <a:t>     </a:t>
            </a:r>
            <a:r>
              <a:rPr lang="en-US" sz="2800" b="1" dirty="0"/>
              <a:t>A Minor Project </a:t>
            </a:r>
            <a:br>
              <a:rPr lang="en-US" sz="2800" b="1" dirty="0"/>
            </a:br>
            <a:r>
              <a:rPr lang="en-US" sz="2800" b="1" dirty="0"/>
              <a:t>on</a:t>
            </a:r>
            <a:br>
              <a:rPr lang="en-US" sz="2800" b="1" dirty="0"/>
            </a:br>
            <a:r>
              <a:rPr lang="en-IN" sz="2800" b="1" dirty="0"/>
              <a:t>Interactive Web-Based Mathematical Toolkit</a:t>
            </a:r>
            <a:br>
              <a:rPr lang="en-US" sz="3200" dirty="0"/>
            </a:br>
            <a:r>
              <a:rPr lang="en-US" sz="2400" dirty="0"/>
              <a:t>By </a:t>
            </a:r>
            <a:br>
              <a:rPr lang="en-US" sz="3200" dirty="0"/>
            </a:br>
            <a:r>
              <a:rPr lang="en-US" sz="2200" dirty="0">
                <a:latin typeface="+mn-lt"/>
              </a:rPr>
              <a:t>Subham Kumar </a:t>
            </a:r>
            <a:r>
              <a:rPr lang="en-US" sz="2200" dirty="0" err="1">
                <a:latin typeface="+mn-lt"/>
              </a:rPr>
              <a:t>Padhy</a:t>
            </a:r>
            <a:r>
              <a:rPr lang="en-US" sz="2200" dirty="0">
                <a:latin typeface="+mn-lt"/>
              </a:rPr>
              <a:t> (24CSE236) and</a:t>
            </a:r>
            <a:br>
              <a:rPr lang="en-US" sz="2200" dirty="0">
                <a:latin typeface="+mn-lt"/>
              </a:rPr>
            </a:br>
            <a:r>
              <a:rPr lang="en-US" sz="2200" dirty="0">
                <a:latin typeface="+mn-lt"/>
              </a:rPr>
              <a:t>Tanmay Bhuyan (24CSE215)</a:t>
            </a:r>
            <a:br>
              <a:rPr lang="en-US" sz="2400" dirty="0"/>
            </a:br>
            <a:r>
              <a:rPr lang="en-US" sz="2400" dirty="0"/>
              <a:t>	</a:t>
            </a:r>
            <a:br>
              <a:rPr lang="en-US" sz="2400" dirty="0"/>
            </a:br>
            <a:br>
              <a:rPr lang="en-US" sz="3200" dirty="0"/>
            </a:br>
            <a:br>
              <a:rPr lang="en-US" sz="3200" dirty="0"/>
            </a:br>
            <a:br>
              <a:rPr lang="en-US" sz="3200" dirty="0"/>
            </a:br>
            <a:r>
              <a:rPr lang="en-US" sz="2400" b="1" dirty="0"/>
              <a:t>Department of CSE,</a:t>
            </a:r>
            <a:br>
              <a:rPr lang="en-US" sz="2400" b="1" dirty="0"/>
            </a:br>
            <a:r>
              <a:rPr lang="en-US" sz="2400" b="1" dirty="0"/>
              <a:t>GIET University, </a:t>
            </a:r>
            <a:r>
              <a:rPr lang="en-US" sz="2400" b="1" dirty="0" err="1"/>
              <a:t>Gunupur</a:t>
            </a:r>
            <a:r>
              <a:rPr lang="en-US" sz="2400" b="1" dirty="0"/>
              <a:t>, Odisha</a:t>
            </a:r>
            <a:br>
              <a:rPr lang="en-US" sz="2400" b="1" dirty="0"/>
            </a:br>
            <a:r>
              <a:rPr lang="en-US" sz="2400" b="1" dirty="0"/>
              <a:t>October - 2025</a:t>
            </a:r>
            <a:endParaRPr sz="2400" b="1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51168" y="3320845"/>
            <a:ext cx="1641664" cy="1472009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-356098" y="132837"/>
            <a:ext cx="9146135" cy="1470025"/>
          </a:xfrm>
        </p:spPr>
        <p:txBody>
          <a:bodyPr>
            <a:noAutofit/>
          </a:bodyPr>
          <a:lstStyle/>
          <a:p>
            <a:r>
              <a:rPr lang="en-US" b="1" dirty="0"/>
              <a:t>Contents </a:t>
            </a:r>
            <a:endParaRPr b="1" dirty="0"/>
          </a:p>
        </p:txBody>
      </p:sp>
      <p:sp>
        <p:nvSpPr>
          <p:cNvPr id="3" name="TextBox 2"/>
          <p:cNvSpPr txBox="1"/>
          <p:nvPr/>
        </p:nvSpPr>
        <p:spPr>
          <a:xfrm>
            <a:off x="231952" y="1607676"/>
            <a:ext cx="8680096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sz="2800" dirty="0"/>
              <a:t>Abstract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800" dirty="0"/>
              <a:t>Introduction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800" dirty="0"/>
              <a:t>Problem Statement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800" dirty="0"/>
              <a:t>Objectives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800" dirty="0"/>
              <a:t>Current progress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800" dirty="0"/>
              <a:t>Project workflow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800" dirty="0"/>
              <a:t>Tools &amp; Technologies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800" dirty="0"/>
              <a:t>Future work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800" dirty="0"/>
              <a:t>Expected Outcomes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9BB4A70-A795-D32A-E7DE-1EE86E3BA9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9988" y="251007"/>
            <a:ext cx="1150049" cy="10311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723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8610EB-A5FC-2147-C244-A77EB714F6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Abstract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C09360-8297-0CAD-C8F0-C1671A8ED8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67968"/>
            <a:ext cx="8229600" cy="531539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/>
              <a:t>Aim: </a:t>
            </a:r>
          </a:p>
          <a:p>
            <a:pPr marL="0" indent="0">
              <a:buNone/>
            </a:pPr>
            <a:r>
              <a:rPr lang="en-US" sz="2000" dirty="0"/>
              <a:t>To build an interactive, web-based mathematical toolkit. Simplifies how users, especially students, interact with fundamental math concepts</a:t>
            </a:r>
            <a:r>
              <a:rPr lang="en-US" sz="2400" dirty="0"/>
              <a:t>.</a:t>
            </a:r>
          </a:p>
          <a:p>
            <a:pPr marL="0" indent="0">
              <a:buNone/>
            </a:pPr>
            <a:r>
              <a:rPr lang="en-US" sz="2400" b="1" dirty="0"/>
              <a:t>Current Progress:</a:t>
            </a:r>
            <a:endParaRPr lang="en-US" sz="2400" dirty="0"/>
          </a:p>
          <a:p>
            <a:r>
              <a:rPr lang="en-US" sz="2000" dirty="0"/>
              <a:t>User registration &amp; login (manual, no sessions).</a:t>
            </a:r>
          </a:p>
          <a:p>
            <a:r>
              <a:rPr lang="en-US" sz="2000" dirty="0"/>
              <a:t>Home Dashboard with three functional tools: Factorial, Prime, Arithmetic.</a:t>
            </a:r>
          </a:p>
          <a:p>
            <a:r>
              <a:rPr lang="en-US" sz="2000" dirty="0"/>
              <a:t>Responsive UI using Tailwind CSS.</a:t>
            </a:r>
          </a:p>
          <a:p>
            <a:pPr marL="0" indent="0">
              <a:buNone/>
            </a:pPr>
            <a:r>
              <a:rPr lang="en-US" sz="2400" b="1" dirty="0"/>
              <a:t>Technologies Used:</a:t>
            </a:r>
          </a:p>
          <a:p>
            <a:pPr marL="0" indent="0">
              <a:buNone/>
            </a:pPr>
            <a:r>
              <a:rPr lang="en-US" sz="2000" dirty="0"/>
              <a:t>Backend integrated using Node.js, Express, MongoDB with EJS for the</a:t>
            </a:r>
            <a:r>
              <a:rPr lang="en-US" sz="2000" b="1" dirty="0"/>
              <a:t> </a:t>
            </a:r>
            <a:r>
              <a:rPr lang="en-US" sz="2000" dirty="0"/>
              <a:t>frontend.</a:t>
            </a:r>
          </a:p>
          <a:p>
            <a:pPr marL="0" indent="0">
              <a:buNone/>
            </a:pPr>
            <a:r>
              <a:rPr lang="en-US" sz="2000" dirty="0"/>
              <a:t> </a:t>
            </a:r>
            <a:r>
              <a:rPr lang="en-IN" sz="2400" b="1" dirty="0"/>
              <a:t>Future Work :</a:t>
            </a:r>
          </a:p>
          <a:p>
            <a:pPr marL="0" indent="0">
              <a:buNone/>
            </a:pPr>
            <a:r>
              <a:rPr lang="en-US" sz="2000" dirty="0"/>
              <a:t>To add other tools (prime number check, exponentiation etc.,).</a:t>
            </a:r>
          </a:p>
          <a:p>
            <a:pPr marL="0" indent="0">
              <a:buNone/>
            </a:pPr>
            <a:endParaRPr lang="en-US" sz="2000" b="1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IN" sz="2400" b="1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99197B4-9BA8-FDC2-1BC4-11B1B5B4DB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38310" y="236769"/>
            <a:ext cx="1150049" cy="10311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01845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10F2D5-826D-E072-D7C8-CB5DBD1D0F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1838" y="687593"/>
            <a:ext cx="8229600" cy="1143000"/>
          </a:xfrm>
        </p:spPr>
        <p:txBody>
          <a:bodyPr/>
          <a:lstStyle/>
          <a:p>
            <a:r>
              <a:rPr lang="en-US" b="1" dirty="0"/>
              <a:t>Introduction</a:t>
            </a:r>
            <a:endParaRPr lang="en-IN" b="1" dirty="0"/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C26C4AF7-9E47-E345-17CE-4B267F554D89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956186" y="2356669"/>
            <a:ext cx="6880447" cy="33424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indent="0">
              <a:buNone/>
            </a:pPr>
            <a:r>
              <a:rPr lang="en-US" sz="2400" dirty="0"/>
              <a:t>Traditional calculators provide results only—no learning insight.</a:t>
            </a:r>
            <a:br>
              <a:rPr lang="en-US" sz="2400" dirty="0"/>
            </a:br>
            <a:r>
              <a:rPr lang="en-US" sz="2400" dirty="0"/>
              <a:t>This toolkit provides:</a:t>
            </a:r>
          </a:p>
          <a:p>
            <a:r>
              <a:rPr lang="en-US" sz="2400" dirty="0"/>
              <a:t>Step-by-step learning experience.</a:t>
            </a:r>
          </a:p>
          <a:p>
            <a:r>
              <a:rPr lang="en-US" sz="2400" dirty="0"/>
              <a:t>Real-time calculations with visual feedback.</a:t>
            </a:r>
          </a:p>
          <a:p>
            <a:r>
              <a:rPr lang="en-US" sz="2400" dirty="0"/>
              <a:t>Educational explanations for each tool.</a:t>
            </a:r>
          </a:p>
          <a:p>
            <a:r>
              <a:rPr lang="en-US" sz="2400" dirty="0"/>
              <a:t>A modern web interface built with Node.js + EJS + Tailwind.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22E5D2B-F462-37E1-582B-275E672625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36633" y="171993"/>
            <a:ext cx="1150049" cy="10311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49278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/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7645" y="2160638"/>
            <a:ext cx="7988710" cy="3640394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altLang="en-US" sz="2400" dirty="0">
                <a:latin typeface="Arial" panose="020B0604020202020204" pitchFamily="34" charset="0"/>
              </a:rPr>
              <a:t>Existing online tools are either only answer based or traditional content delivering style.</a:t>
            </a:r>
          </a:p>
          <a:p>
            <a:pPr>
              <a:lnSpc>
                <a:spcPct val="150000"/>
              </a:lnSpc>
            </a:pPr>
            <a:r>
              <a:rPr lang="en-IN" sz="2400" b="1" dirty="0"/>
              <a:t>Need for the Project:  </a:t>
            </a:r>
            <a:r>
              <a:rPr lang="en-US" sz="2400" dirty="0"/>
              <a:t>A platform that makes math learning interactive, simple, and accessible. Should provide step-by-step explanations along with answers.</a:t>
            </a:r>
            <a:endParaRPr lang="en-IN" sz="2400" dirty="0"/>
          </a:p>
          <a:p>
            <a:pPr marL="0" indent="0">
              <a:buNone/>
            </a:pPr>
            <a:r>
              <a:rPr lang="en-IN" dirty="0"/>
              <a:t>      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BE5B7D2C-5895-B0AB-6CEF-C57DDAFD00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75962" y="242340"/>
            <a:ext cx="1150049" cy="1031199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/>
              <a:t>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/>
              <a:t>Core objectives: </a:t>
            </a:r>
          </a:p>
          <a:p>
            <a:pPr marL="0" indent="0">
              <a:buNone/>
            </a:pPr>
            <a:r>
              <a:rPr lang="en-US" sz="2200" dirty="0"/>
              <a:t>Develop a responsive web interface for mathematical operations. Provide step-by-step explanations with every calculation.</a:t>
            </a:r>
          </a:p>
          <a:p>
            <a:pPr marL="0" indent="0">
              <a:buNone/>
            </a:pPr>
            <a:endParaRPr lang="en-US" sz="2200" dirty="0"/>
          </a:p>
          <a:p>
            <a:pPr marL="0" indent="0">
              <a:buNone/>
            </a:pPr>
            <a:r>
              <a:rPr lang="en-US" sz="2200" b="1" dirty="0"/>
              <a:t>Development Goals:</a:t>
            </a:r>
          </a:p>
          <a:p>
            <a:pPr marL="0" indent="0">
              <a:buNone/>
            </a:pPr>
            <a:r>
              <a:rPr lang="en-US" sz="2200" dirty="0"/>
              <a:t>Build modular tools: Factorial Calculator, Prime Checker, Arithmetic Operations. Future integration of GCD, LCM, exponentiation.</a:t>
            </a:r>
          </a:p>
          <a:p>
            <a:pPr marL="0" indent="0">
              <a:buNone/>
            </a:pPr>
            <a:endParaRPr lang="en-US" sz="2200" dirty="0"/>
          </a:p>
          <a:p>
            <a:pPr marL="0" indent="0">
              <a:buNone/>
            </a:pPr>
            <a:r>
              <a:rPr lang="en-US" sz="2200" b="1" dirty="0"/>
              <a:t>Vision:</a:t>
            </a:r>
          </a:p>
          <a:p>
            <a:pPr marL="0" indent="0">
              <a:buNone/>
            </a:pPr>
            <a:r>
              <a:rPr lang="en-US" sz="2200" dirty="0"/>
              <a:t>Bridge the gap between calculation tools and learning aids.</a:t>
            </a:r>
            <a:endParaRPr sz="22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37D0E7C-575F-BEBD-919C-8E457F1673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16969" y="216237"/>
            <a:ext cx="1150049" cy="1031199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" y="608934"/>
            <a:ext cx="8229600" cy="1143000"/>
          </a:xfrm>
        </p:spPr>
        <p:txBody>
          <a:bodyPr/>
          <a:lstStyle/>
          <a:p>
            <a:r>
              <a:rPr lang="en-IN" b="1" dirty="0"/>
              <a:t>Current Progress</a:t>
            </a:r>
            <a:endParaRPr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5019" y="2198738"/>
            <a:ext cx="8229600" cy="2735826"/>
          </a:xfrm>
        </p:spPr>
        <p:txBody>
          <a:bodyPr>
            <a:noAutofit/>
          </a:bodyPr>
          <a:lstStyle/>
          <a:p>
            <a:pPr>
              <a:lnSpc>
                <a:spcPct val="160000"/>
              </a:lnSpc>
            </a:pPr>
            <a:r>
              <a:rPr lang="en-US" sz="2000" dirty="0"/>
              <a:t>Arithmetic Calculator → fully implemented with addition, subtraction, multiplication, and division.</a:t>
            </a:r>
            <a:r>
              <a:rPr lang="en-IN" sz="2000" dirty="0"/>
              <a:t> .</a:t>
            </a:r>
          </a:p>
          <a:p>
            <a:pPr>
              <a:lnSpc>
                <a:spcPct val="160000"/>
              </a:lnSpc>
            </a:pPr>
            <a:r>
              <a:rPr lang="en-IN" sz="2000" dirty="0"/>
              <a:t>Factorial Calculator → fully functional with step-by-step output.</a:t>
            </a:r>
          </a:p>
          <a:p>
            <a:pPr>
              <a:lnSpc>
                <a:spcPct val="160000"/>
              </a:lnSpc>
            </a:pPr>
            <a:r>
              <a:rPr lang="en-IN" sz="2000" dirty="0"/>
              <a:t>Prime Checker → User interface designed &amp; integrated.</a:t>
            </a:r>
          </a:p>
          <a:p>
            <a:pPr>
              <a:lnSpc>
                <a:spcPct val="160000"/>
              </a:lnSpc>
            </a:pPr>
            <a:r>
              <a:rPr lang="en-IN" sz="2000" dirty="0"/>
              <a:t> Responsive design across devices.</a:t>
            </a:r>
          </a:p>
          <a:p>
            <a:pPr>
              <a:lnSpc>
                <a:spcPct val="160000"/>
              </a:lnSpc>
            </a:pPr>
            <a:r>
              <a:rPr lang="en-IN" sz="2000" dirty="0"/>
              <a:t> Basic educational content added.</a:t>
            </a:r>
          </a:p>
          <a:p>
            <a:pPr marL="0" indent="0">
              <a:lnSpc>
                <a:spcPct val="160000"/>
              </a:lnSpc>
              <a:buNone/>
            </a:pPr>
            <a:r>
              <a:rPr lang="en-US" sz="2000" dirty="0"/>
              <a:t>Approximately 80% of the project completed .</a:t>
            </a:r>
            <a:endParaRPr sz="20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C7CB4B0-C3CD-2DCB-6C74-3A4873849C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41551" y="162130"/>
            <a:ext cx="1150049" cy="1031199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0" y="274638"/>
            <a:ext cx="8229600" cy="1143000"/>
          </a:xfrm>
        </p:spPr>
        <p:txBody>
          <a:bodyPr/>
          <a:lstStyle/>
          <a:p>
            <a:r>
              <a:rPr lang="en-US" b="1" dirty="0"/>
              <a:t>Project Workflow</a:t>
            </a:r>
            <a:endParaRPr b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53BAFF4-0E09-F345-8E70-266A28A7A4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97304" y="216237"/>
            <a:ext cx="1150049" cy="1031199"/>
          </a:xfrm>
          <a:prstGeom prst="rect">
            <a:avLst/>
          </a:prstGeom>
        </p:spPr>
      </p:pic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AA843F6C-43A0-A178-FF70-55273AAEAF93}"/>
              </a:ext>
            </a:extLst>
          </p:cNvPr>
          <p:cNvSpPr/>
          <p:nvPr/>
        </p:nvSpPr>
        <p:spPr>
          <a:xfrm>
            <a:off x="3609861" y="1317853"/>
            <a:ext cx="1187116" cy="540444"/>
          </a:xfrm>
          <a:prstGeom prst="round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F84B419-2B74-949D-B69E-5AFF3843C3DB}"/>
              </a:ext>
            </a:extLst>
          </p:cNvPr>
          <p:cNvSpPr txBox="1"/>
          <p:nvPr/>
        </p:nvSpPr>
        <p:spPr>
          <a:xfrm>
            <a:off x="3576148" y="1383930"/>
            <a:ext cx="133625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latin typeface="Comic Sans MS" panose="030F0702030302020204" pitchFamily="66" charset="0"/>
              </a:rPr>
              <a:t>User Login</a:t>
            </a:r>
          </a:p>
          <a:p>
            <a:r>
              <a:rPr lang="en-US" sz="1000" dirty="0">
                <a:latin typeface="Comic Sans MS" panose="030F0702030302020204" pitchFamily="66" charset="0"/>
              </a:rPr>
              <a:t>(Auth &amp; Database)</a:t>
            </a:r>
            <a:endParaRPr lang="en-IN" sz="1000" dirty="0">
              <a:latin typeface="Comic Sans MS" panose="030F0702030302020204" pitchFamily="66" charset="0"/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C55237FF-F930-D38B-90BE-3D568F89C650}"/>
              </a:ext>
            </a:extLst>
          </p:cNvPr>
          <p:cNvSpPr/>
          <p:nvPr/>
        </p:nvSpPr>
        <p:spPr>
          <a:xfrm>
            <a:off x="2324735" y="2120088"/>
            <a:ext cx="1635894" cy="576366"/>
          </a:xfrm>
          <a:prstGeom prst="round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C701330-3D7D-C4D9-19B4-3835C3414A79}"/>
              </a:ext>
            </a:extLst>
          </p:cNvPr>
          <p:cNvSpPr txBox="1"/>
          <p:nvPr/>
        </p:nvSpPr>
        <p:spPr>
          <a:xfrm>
            <a:off x="2323953" y="2116993"/>
            <a:ext cx="1560496" cy="5386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latin typeface="Comic Sans MS" panose="030F0702030302020204" pitchFamily="66" charset="0"/>
              </a:rPr>
              <a:t>Input Stage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900" dirty="0">
                <a:latin typeface="Comic Sans MS" panose="030F0702030302020204" pitchFamily="66" charset="0"/>
              </a:rPr>
              <a:t>Numbers &amp; operators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900" dirty="0">
                <a:latin typeface="Comic Sans MS" panose="030F0702030302020204" pitchFamily="66" charset="0"/>
              </a:rPr>
              <a:t>Advanced options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DBB692C0-35C4-609D-82F9-94A19191DAD0}"/>
              </a:ext>
            </a:extLst>
          </p:cNvPr>
          <p:cNvSpPr/>
          <p:nvPr/>
        </p:nvSpPr>
        <p:spPr>
          <a:xfrm>
            <a:off x="4141470" y="2897858"/>
            <a:ext cx="2159276" cy="798726"/>
          </a:xfrm>
          <a:prstGeom prst="round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96AB0701-12CA-0E46-CBE5-0F1FB31675AA}"/>
              </a:ext>
            </a:extLst>
          </p:cNvPr>
          <p:cNvSpPr/>
          <p:nvPr/>
        </p:nvSpPr>
        <p:spPr>
          <a:xfrm>
            <a:off x="2311257" y="4093395"/>
            <a:ext cx="1827178" cy="734322"/>
          </a:xfrm>
          <a:prstGeom prst="round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69445BAC-E20A-AF04-6243-9B5FF599B109}"/>
              </a:ext>
            </a:extLst>
          </p:cNvPr>
          <p:cNvSpPr/>
          <p:nvPr/>
        </p:nvSpPr>
        <p:spPr>
          <a:xfrm>
            <a:off x="4152425" y="5302815"/>
            <a:ext cx="1939639" cy="662867"/>
          </a:xfrm>
          <a:prstGeom prst="round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8805D4C-CCE1-517E-4340-CB3A0B6C98DD}"/>
              </a:ext>
            </a:extLst>
          </p:cNvPr>
          <p:cNvSpPr txBox="1"/>
          <p:nvPr/>
        </p:nvSpPr>
        <p:spPr>
          <a:xfrm>
            <a:off x="2295236" y="4150609"/>
            <a:ext cx="1896278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latin typeface="Comic Sans MS" panose="030F0702030302020204" pitchFamily="66" charset="0"/>
              </a:rPr>
              <a:t>Output &amp; Visualization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900" dirty="0">
                <a:latin typeface="Comic Sans MS" panose="030F0702030302020204" pitchFamily="66" charset="0"/>
              </a:rPr>
              <a:t>Display result instantly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900" dirty="0">
                <a:latin typeface="Comic Sans MS" panose="030F0702030302020204" pitchFamily="66" charset="0"/>
              </a:rPr>
              <a:t>Step-by-step explanation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900" dirty="0">
                <a:latin typeface="Comic Sans MS" panose="030F0702030302020204" pitchFamily="66" charset="0"/>
              </a:rPr>
              <a:t> UI feedback (valid/invalid)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097CCBC-1AF2-5034-2003-58CDD815BC8C}"/>
              </a:ext>
            </a:extLst>
          </p:cNvPr>
          <p:cNvSpPr txBox="1"/>
          <p:nvPr/>
        </p:nvSpPr>
        <p:spPr>
          <a:xfrm>
            <a:off x="4174212" y="2958667"/>
            <a:ext cx="2159277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latin typeface="Comic Sans MS" panose="030F0702030302020204" pitchFamily="66" charset="0"/>
              </a:rPr>
              <a:t>Processing &amp; Computation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900" dirty="0">
                <a:latin typeface="Comic Sans MS" panose="030F0702030302020204" pitchFamily="66" charset="0"/>
              </a:rPr>
              <a:t>Basic arithmetic (+ − × ÷)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900" dirty="0">
                <a:latin typeface="Comic Sans MS" panose="030F0702030302020204" pitchFamily="66" charset="0"/>
              </a:rPr>
              <a:t>Advanced ops (prime, factorial)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900" dirty="0">
                <a:latin typeface="Comic Sans MS" panose="030F0702030302020204" pitchFamily="66" charset="0"/>
              </a:rPr>
              <a:t>Error handling (invalid input)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75B8D7FD-4AAA-7E00-9362-BF0C95CE6808}"/>
              </a:ext>
            </a:extLst>
          </p:cNvPr>
          <p:cNvSpPr txBox="1"/>
          <p:nvPr/>
        </p:nvSpPr>
        <p:spPr>
          <a:xfrm>
            <a:off x="4195787" y="5350581"/>
            <a:ext cx="1896278" cy="5386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latin typeface="Comic Sans MS" panose="030F0702030302020204" pitchFamily="66" charset="0"/>
              </a:rPr>
              <a:t>Database Integration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900" dirty="0">
                <a:latin typeface="Comic Sans MS" panose="030F0702030302020204" pitchFamily="66" charset="0"/>
              </a:rPr>
              <a:t>User accounts &amp; auth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900" dirty="0">
                <a:latin typeface="Comic Sans MS" panose="030F0702030302020204" pitchFamily="66" charset="0"/>
              </a:rPr>
              <a:t>Store preferences/settings </a:t>
            </a:r>
          </a:p>
        </p:txBody>
      </p:sp>
      <p:cxnSp>
        <p:nvCxnSpPr>
          <p:cNvPr id="38" name="Connector: Elbow 37">
            <a:extLst>
              <a:ext uri="{FF2B5EF4-FFF2-40B4-BE49-F238E27FC236}">
                <a16:creationId xmlns:a16="http://schemas.microsoft.com/office/drawing/2014/main" id="{25C3FE38-B296-D598-DE66-D09BAD7F46A7}"/>
              </a:ext>
            </a:extLst>
          </p:cNvPr>
          <p:cNvCxnSpPr>
            <a:stCxn id="8" idx="2"/>
            <a:endCxn id="9" idx="1"/>
          </p:cNvCxnSpPr>
          <p:nvPr/>
        </p:nvCxnSpPr>
        <p:spPr>
          <a:xfrm rot="16200000" flipH="1">
            <a:off x="3302026" y="2457776"/>
            <a:ext cx="641619" cy="1037269"/>
          </a:xfrm>
          <a:prstGeom prst="bentConnector2">
            <a:avLst/>
          </a:prstGeom>
          <a:ln w="190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: Elbow 39">
            <a:extLst>
              <a:ext uri="{FF2B5EF4-FFF2-40B4-BE49-F238E27FC236}">
                <a16:creationId xmlns:a16="http://schemas.microsoft.com/office/drawing/2014/main" id="{DE2106F7-7AE1-2171-E4D4-6B953FEF2F67}"/>
              </a:ext>
            </a:extLst>
          </p:cNvPr>
          <p:cNvCxnSpPr>
            <a:stCxn id="32" idx="3"/>
            <a:endCxn id="12" idx="3"/>
          </p:cNvCxnSpPr>
          <p:nvPr/>
        </p:nvCxnSpPr>
        <p:spPr>
          <a:xfrm flipH="1">
            <a:off x="4191514" y="3297221"/>
            <a:ext cx="2141975" cy="1191942"/>
          </a:xfrm>
          <a:prstGeom prst="bentConnector3">
            <a:avLst>
              <a:gd name="adj1" fmla="val -10213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: Elbow 42">
            <a:extLst>
              <a:ext uri="{FF2B5EF4-FFF2-40B4-BE49-F238E27FC236}">
                <a16:creationId xmlns:a16="http://schemas.microsoft.com/office/drawing/2014/main" id="{9E803513-7C1E-7CE0-635D-8DCD3FD51DFC}"/>
              </a:ext>
            </a:extLst>
          </p:cNvPr>
          <p:cNvCxnSpPr>
            <a:stCxn id="12" idx="2"/>
            <a:endCxn id="33" idx="1"/>
          </p:cNvCxnSpPr>
          <p:nvPr/>
        </p:nvCxnSpPr>
        <p:spPr>
          <a:xfrm rot="16200000" flipH="1">
            <a:off x="3323497" y="4747595"/>
            <a:ext cx="792169" cy="952412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: Elbow 46">
            <a:extLst>
              <a:ext uri="{FF2B5EF4-FFF2-40B4-BE49-F238E27FC236}">
                <a16:creationId xmlns:a16="http://schemas.microsoft.com/office/drawing/2014/main" id="{FE2BD0A8-E73D-0F11-D4FE-CA08677990C0}"/>
              </a:ext>
            </a:extLst>
          </p:cNvPr>
          <p:cNvCxnSpPr>
            <a:cxnSpLocks/>
            <a:endCxn id="8" idx="0"/>
          </p:cNvCxnSpPr>
          <p:nvPr/>
        </p:nvCxnSpPr>
        <p:spPr>
          <a:xfrm rot="5400000">
            <a:off x="3519546" y="1442953"/>
            <a:ext cx="258696" cy="1089385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/>
              <a:t>Tools &amp; Technologies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68478" y="1708355"/>
            <a:ext cx="6749845" cy="4004187"/>
          </a:xfrm>
        </p:spPr>
        <p:txBody>
          <a:bodyPr>
            <a:normAutofit/>
          </a:bodyPr>
          <a:lstStyle/>
          <a:p>
            <a:r>
              <a:rPr lang="en-IN" sz="2800" dirty="0"/>
              <a:t>Frontend: </a:t>
            </a:r>
            <a:r>
              <a:rPr lang="fr-FR" sz="2800" dirty="0"/>
              <a:t>EJS </a:t>
            </a:r>
            <a:r>
              <a:rPr lang="fr-FR" sz="2800" dirty="0" err="1"/>
              <a:t>Templates</a:t>
            </a:r>
            <a:r>
              <a:rPr lang="fr-FR" sz="2800" dirty="0"/>
              <a:t>, </a:t>
            </a:r>
            <a:r>
              <a:rPr lang="fr-FR" sz="2800" dirty="0" err="1"/>
              <a:t>Tailwind</a:t>
            </a:r>
            <a:r>
              <a:rPr lang="fr-FR" sz="2800" dirty="0"/>
              <a:t> CSS, JavaScript</a:t>
            </a:r>
            <a:r>
              <a:rPr lang="en-IN" sz="2800" dirty="0"/>
              <a:t>.</a:t>
            </a:r>
          </a:p>
          <a:p>
            <a:r>
              <a:rPr lang="en-IN" sz="2800" dirty="0"/>
              <a:t>Logic Modules: Factorial, Prime, Arithmetic (future).</a:t>
            </a:r>
          </a:p>
          <a:p>
            <a:r>
              <a:rPr lang="en-IN" sz="2800" dirty="0"/>
              <a:t>Backend : Node.js, Express.js.</a:t>
            </a:r>
          </a:p>
          <a:p>
            <a:r>
              <a:rPr lang="en-IN" sz="2800" dirty="0"/>
              <a:t>Database : MongoDB.</a:t>
            </a:r>
          </a:p>
          <a:p>
            <a:r>
              <a:rPr lang="en-IN" sz="2800" dirty="0"/>
              <a:t>Environment: VS Code, </a:t>
            </a:r>
            <a:r>
              <a:rPr lang="en-IN" sz="2800" dirty="0" err="1"/>
              <a:t>npm</a:t>
            </a:r>
            <a:r>
              <a:rPr lang="en-IN" sz="2800" dirty="0"/>
              <a:t>, </a:t>
            </a:r>
            <a:r>
              <a:rPr lang="en-IN" sz="2800" dirty="0" err="1"/>
              <a:t>nodemon</a:t>
            </a:r>
            <a:endParaRPr lang="en-IN" sz="28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3B57578-C9C6-CDA2-C067-BA613A1912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26800" y="251007"/>
            <a:ext cx="1150049" cy="1031199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0555" y="510613"/>
            <a:ext cx="8229600" cy="1143000"/>
          </a:xfrm>
        </p:spPr>
        <p:txBody>
          <a:bodyPr/>
          <a:lstStyle/>
          <a:p>
            <a:r>
              <a:rPr lang="en-IN" b="1" dirty="0"/>
              <a:t>Future Work</a:t>
            </a:r>
            <a:endParaRPr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3581864-101E-7A57-61D4-251BCB5070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15130" y="251007"/>
            <a:ext cx="1150049" cy="1031199"/>
          </a:xfrm>
          <a:prstGeom prst="rect">
            <a:avLst/>
          </a:prstGeom>
        </p:spPr>
      </p:pic>
      <p:sp>
        <p:nvSpPr>
          <p:cNvPr id="6" name="Rectangle 2">
            <a:extLst>
              <a:ext uri="{FF2B5EF4-FFF2-40B4-BE49-F238E27FC236}">
                <a16:creationId xmlns:a16="http://schemas.microsoft.com/office/drawing/2014/main" id="{132EB1AE-2409-0588-7BAD-3B8A90897FC4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997412" y="2062561"/>
            <a:ext cx="6789737" cy="32441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Add more tools: GCD, LCM, Exponentiation.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Implement user data storage (history, preferences).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UI enhancements and animations.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/>
              <a:t>Expected Outcomes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200000"/>
              </a:lnSpc>
            </a:pPr>
            <a:r>
              <a:rPr lang="en-US" sz="2800" dirty="0"/>
              <a:t>Interactive math learning tool.</a:t>
            </a:r>
          </a:p>
          <a:p>
            <a:pPr>
              <a:lnSpc>
                <a:spcPct val="200000"/>
              </a:lnSpc>
            </a:pPr>
            <a:r>
              <a:rPr lang="en-US" sz="2800" dirty="0"/>
              <a:t>Students get both answers + explanations.</a:t>
            </a:r>
          </a:p>
          <a:p>
            <a:pPr>
              <a:lnSpc>
                <a:spcPct val="200000"/>
              </a:lnSpc>
            </a:pPr>
            <a:r>
              <a:rPr lang="en-US" sz="2800" dirty="0"/>
              <a:t>Scalable for future expansion.</a:t>
            </a:r>
          </a:p>
          <a:p>
            <a:pPr>
              <a:lnSpc>
                <a:spcPct val="200000"/>
              </a:lnSpc>
            </a:pPr>
            <a:r>
              <a:rPr lang="en-US" sz="2800" dirty="0"/>
              <a:t>Accessible on desktop &amp; mobile.</a:t>
            </a:r>
            <a:endParaRPr sz="28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F135F53-2BE1-9263-C00B-3D930330D0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7640" y="216237"/>
            <a:ext cx="1150049" cy="1031199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01561" y="2576051"/>
            <a:ext cx="8229600" cy="1200202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7200" b="1" dirty="0">
                <a:latin typeface="+mj-lt"/>
                <a:ea typeface="+mj-ea"/>
                <a:cs typeface="+mj-cs"/>
              </a:rPr>
              <a:t>THANK YOU</a:t>
            </a:r>
            <a:endParaRPr sz="7200" b="1" dirty="0">
              <a:latin typeface="+mj-lt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240717343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225</TotalTime>
  <Words>525</Words>
  <Application>Microsoft Office PowerPoint</Application>
  <PresentationFormat>On-screen Show (4:3)</PresentationFormat>
  <Paragraphs>82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Comic Sans MS</vt:lpstr>
      <vt:lpstr>Office Theme</vt:lpstr>
      <vt:lpstr>        A Minor Project  on Interactive Web-Based Mathematical Toolkit By  Subham Kumar Padhy (24CSE236) and Tanmay Bhuyan (24CSE215)      Department of CSE, GIET University, Gunupur, Odisha October - 2025</vt:lpstr>
      <vt:lpstr>Contents </vt:lpstr>
      <vt:lpstr>Abstract</vt:lpstr>
      <vt:lpstr>Introduction</vt:lpstr>
      <vt:lpstr>Problem Statement</vt:lpstr>
      <vt:lpstr>Objectives</vt:lpstr>
      <vt:lpstr>Current Progress</vt:lpstr>
      <vt:lpstr>Project Workflow</vt:lpstr>
      <vt:lpstr>Tools &amp; Technologies</vt:lpstr>
      <vt:lpstr>Future Work</vt:lpstr>
      <vt:lpstr>Expected Outcomes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 Minor Project  on Disease Prediction System By  Mr. Sibo Prasad Patro (24CSExyz) under the supervision of  Prof. / Mr. Name of the faculty     Department of CSE, GIET University, Odisha, Gunupur Aug - 2025</dc:title>
  <dc:subject/>
  <dc:creator>Tanmay Bhuyan</dc:creator>
  <cp:keywords/>
  <dc:description>generated using python-pptx</dc:description>
  <cp:lastModifiedBy>Tanmay Bhuyan</cp:lastModifiedBy>
  <cp:revision>9</cp:revision>
  <dcterms:created xsi:type="dcterms:W3CDTF">2013-01-27T09:14:16Z</dcterms:created>
  <dcterms:modified xsi:type="dcterms:W3CDTF">2025-10-08T04:57:07Z</dcterms:modified>
  <cp:category/>
</cp:coreProperties>
</file>